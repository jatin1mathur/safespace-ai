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12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topic as Agentic AI, not only an application.
Mention that the project is used as a running example to explain concepts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a clear roadmap.
The focus is concept first, then tools, then the project as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subject is not only mental health.
The real study topic is the concept and tool chain behind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comes from the reference idea: traditional AI versus agentic AI.
Use one sentence: LLM is the brain, tools are the hands, state is the memory, graph is the control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defines the vocabulary before explaining LangGraph.
It makes the later architecture easier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slowly because ReAct is the core concept.
Mention that ReAct is useful because actions are separated into clear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made for easy speaking.
Use the four words: observe, think, act, result. Then explain the three risk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the main tool.
Avoid going too deep into code at first; explain why LangGraph is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graph with one sentence: nodes do work, edges decide movement, state carries memory.
Mention that this is easier to maintain than long if-else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concept, not only the project feature list.
Mention that tool calling is the bridge between language and software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other frameworks are bad.
Say LangGraph is most suitable here because the project needs state, routing and safety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clarifies a common confusion.
The model produces text; LangGraph controls the application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corresponds to the project architecture from the reference deck.
Move from the user interface down to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list tools only by name.
For each tool, connect it to the concept it implements.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two models are used.
MedGemma handles health-domain generation; Llama/Ollama helps with local agent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common question: why not just use ChatGPT?
The agent adds application control around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not saying MedGemma is better at everything.
Say the model choice depends on the use case: health specialization versus general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concept to project behaviour.
Stress that safety workflow is a controlled routing system, not only prompt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
Mention implemented features, then limitations, then improvements. This sounds professional.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sources and invite questions.
Keep this slide visible for credibility and trackable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 ·  Concepts and Tools</a:t>
            </a:r>
            <a:endParaRPr lang="en-US" sz="6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532120" y="0"/>
            <a:ext cx="10955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20</a:t>
            </a:r>
            <a:endParaRPr lang="en-US" sz="68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B391EF-2178-5C11-AAAC-645B264F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28" y="0"/>
            <a:ext cx="5397548" cy="58118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8081FF-203A-4A89-D84E-383A4359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5732"/>
            <a:ext cx="4000500" cy="402907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EBAC061-AAAC-0800-9D34-7A8130BE5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048681"/>
              </p:ext>
            </p:extLst>
          </p:nvPr>
        </p:nvGraphicFramePr>
        <p:xfrm>
          <a:off x="516722" y="4524924"/>
          <a:ext cx="3841634" cy="17124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1634">
                  <a:extLst>
                    <a:ext uri="{9D8B030D-6E8A-4147-A177-3AD203B41FA5}">
                      <a16:colId xmlns:a16="http://schemas.microsoft.com/office/drawing/2014/main" val="1828627695"/>
                    </a:ext>
                  </a:extLst>
                </a:gridCol>
              </a:tblGrid>
              <a:tr h="17124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Presented by Jatin Mathur</a:t>
                      </a:r>
                      <a:br>
                        <a:rPr lang="en-IN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IN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Master in Software Engineering for Industrial Applications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Hochschule Hof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endParaRPr lang="en-IN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36454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4904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Concept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agentic AI means and how it differs from normal LLM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9088" y="14904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Reasoning Pattern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19088" y="185623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ReAct: observe, reason, act, evaluate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65176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81635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Main Tool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" y="318211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LangGraph: stateful graph framework for agents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281635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Supporting Tools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19088" y="318211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FastAPI, Gradio, Twilio, OpenStreetMap, Ollama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6968" y="414223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Project Mapping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968" y="450799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SafeSpace AI architecture, safety workflow and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9088" y="414223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 Comparison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19088" y="4507992"/>
            <a:ext cx="45811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vs AI agents and MedGemma vs major AI models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20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Context: Why an Agent?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39"/>
            <a:ext cx="3611880" cy="1399027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399032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health support gap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32095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is often delayed, expensive or unavailable outside working hours. A software system needs to respond quickly and safely.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399032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 chatbot limitation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81728" y="1764792"/>
            <a:ext cx="32095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plain chatbot mainly answers text. It cannot reliably coordinate risk checks, APIs, routing and structured outputs.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22208" y="1399032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solution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522208" y="1764792"/>
            <a:ext cx="28437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can reason over context, choose actions, call tools and produce different outputs based on risk level.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520440"/>
            <a:ext cx="9784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2971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5568" y="313639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502152"/>
            <a:ext cx="1746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message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971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58768" y="313639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3502152"/>
            <a:ext cx="1746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intent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2971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01968" y="313639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1968" y="3502152"/>
            <a:ext cx="1746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Tool/API call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0" y="2971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45168" y="313639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45168" y="3502152"/>
            <a:ext cx="1746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or handoff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from SafeSpace AI reference project, selected slides 6, 7, 9, 10, 11, 12, 14, 17, 19, 20 and 21.</a:t>
            </a:r>
            <a:endParaRPr lang="en-US" sz="580" dirty="0"/>
          </a:p>
        </p:txBody>
      </p:sp>
      <p:sp>
        <p:nvSpPr>
          <p:cNvPr id="31" name="Text 28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20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Concept: Agentic 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3492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166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LLM Chat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80760" y="1234440"/>
            <a:ext cx="53492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72200" y="1325880"/>
            <a:ext cx="5166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System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1581912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655064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one text answer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1581912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53912" y="1655064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routes and executes steps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112264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2185416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external action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2112264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53912" y="2185416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APIs, tools and services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2642616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715768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stateless interaction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0760" y="2642616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53912" y="2715768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Maintains state, memory and results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172968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3246120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 for most tasks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3172968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53912" y="3246120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models, tools and rules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" y="3776472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Passive response pattern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80760" y="3703320"/>
            <a:ext cx="5349240" cy="53035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53912" y="3776472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risk detection and workflow control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idea: an AI agent is an LLM connected to tools, state and control logic.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20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Building Blocks of an AI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3990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86968" y="17647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text, reasons and generates the next step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27448" y="13990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27448" y="17647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messages, risk scores, tool outputs and metadata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366760" y="12344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2344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67928" y="13990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67928" y="17647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functions such as clinic search or emergency call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8346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8346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" y="29992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6968" y="33649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decides which path or tool should run next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28346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27448" y="29992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27448" y="33649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 unsafe, off-topic or low-confidence responses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66760" y="2834640"/>
            <a:ext cx="34290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66760" y="283464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67928" y="2999232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67928" y="3364992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response, structured note or escalation action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4937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blocks are implemented with LangGraph + LangChain tools in the project.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20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Pattern: Reason + 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673352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039112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message, context and previous tool results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3063240" y="2112264"/>
            <a:ext cx="32004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150876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67328" y="1673352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67328" y="2039112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intent, risk and next useful action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5897880" y="2112264"/>
            <a:ext cx="32004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1673352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01968" y="2039112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selected tool or model function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8732520" y="2112264"/>
            <a:ext cx="32004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5440" y="1508760"/>
            <a:ext cx="73152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36608" y="1673352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36608" y="2039112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returned data to answer or continue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prevents a single-step chatbot response. The agent can reason, use tools, read results and then continue.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143000" y="4617720"/>
            <a:ext cx="9921240" cy="777240"/>
          </a:xfrm>
          <a:prstGeom prst="roundRect">
            <a:avLst>
              <a:gd name="adj" fmla="val 7059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44168" y="4782312"/>
            <a:ext cx="9518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sentence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98448" y="5120640"/>
            <a:ext cx="9518904" cy="1142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“ReAct means the model does not only answer; it decides what action is needed, executes it, and uses the result.”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Yao et al., ReAct: Synergizing Reasoning and Acting in Language Models, 2022, arXiv:2210.03629.</a:t>
            </a:r>
            <a:endParaRPr lang="en-US" sz="580" dirty="0"/>
          </a:p>
        </p:txBody>
      </p:sp>
      <p:sp>
        <p:nvSpPr>
          <p:cNvPr id="29" name="Text 26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20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PRESENTATION SLIDE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in the SafeSpace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353312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719072"/>
            <a:ext cx="2340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suggests distress or crisis.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18872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118872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13048" y="1353312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3048" y="1719072"/>
            <a:ext cx="2340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risk as LOW, MEDIUM or HIGH.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11887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118872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39128" y="1353312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39128" y="1719072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the correct tool.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1887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98280" y="118872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99448" y="1353312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9448" y="1719072"/>
            <a:ext cx="202082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safe response or escalation.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2971800"/>
            <a:ext cx="210312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30632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71800" y="2971800"/>
            <a:ext cx="836676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63240" y="3063240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Behaviour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68680" y="3319272"/>
            <a:ext cx="2103120" cy="42976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1832" y="3392424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3319272"/>
            <a:ext cx="8366760" cy="42976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44952" y="3392424"/>
            <a:ext cx="8220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 response, breathing guide, sleep advice or mood support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68680" y="3749040"/>
            <a:ext cx="2103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41832" y="3822192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971800" y="3749040"/>
            <a:ext cx="83667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44952" y="3822192"/>
            <a:ext cx="8220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 response plus crisis resources and monitoring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68680" y="4178808"/>
            <a:ext cx="2103120" cy="42976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1832" y="4251960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971800" y="4178808"/>
            <a:ext cx="8366760" cy="42976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44952" y="4251960"/>
            <a:ext cx="8220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workflow: hotline information and Twilio escalation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68680" y="4608576"/>
            <a:ext cx="2103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1832" y="4681728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Off-topic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2971800" y="4608576"/>
            <a:ext cx="83667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44952" y="4681728"/>
            <a:ext cx="8220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Health-topic filter blocks non-health queries</a:t>
            </a:r>
            <a:endParaRPr lang="en-US" sz="940" dirty="0"/>
          </a:p>
        </p:txBody>
      </p:sp>
      <p:sp>
        <p:nvSpPr>
          <p:cNvPr id="41" name="Text 38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20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Focus Tool: LangGraph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73152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307592"/>
            <a:ext cx="4855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673352"/>
            <a:ext cx="485546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is a framework for building stateful agent workflows as graphs. Nodes represent processing steps; edges control the next step.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074920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143000"/>
            <a:ext cx="73152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0528" y="130759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 this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1673352"/>
            <a:ext cx="46725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mental-health assistant needs branching logic: normal response, crisis flow, clinic search, pharmacy search, SOAP note and safe refusal.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3154680" cy="79552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8408" y="359359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structure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 rot="10800000" flipV="1">
            <a:off x="978408" y="3959351"/>
            <a:ext cx="2752344" cy="45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</a:t>
            </a: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48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4434840" y="3429000"/>
            <a:ext cx="3154680" cy="79552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008" y="359359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object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 rot="10800000" flipV="1">
            <a:off x="4636008" y="3858767"/>
            <a:ext cx="2836164" cy="1463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memory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3429000"/>
            <a:ext cx="3154680" cy="79552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93608" y="359359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nodes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93608" y="3858767"/>
            <a:ext cx="2752344" cy="1005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execution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389119"/>
            <a:ext cx="3154680" cy="79552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8408" y="455371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edges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8408" y="4919472"/>
            <a:ext cx="27523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r>
              <a:rPr lang="en-US" sz="48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4434840" y="4389119"/>
            <a:ext cx="3154680" cy="76809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6008" y="455371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Human-in-loop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36008" y="4919472"/>
            <a:ext cx="27523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option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434838"/>
            <a:ext cx="3154680" cy="7498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3608" y="4553712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93608" y="4919472"/>
            <a:ext cx="27523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UX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LangGraph documentation and SafeSpace AI reference slide 9.</a:t>
            </a: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20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DEEP DIVE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LangGraph: How It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" y="1810512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78408" y="2176272"/>
            <a:ext cx="1243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enters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23160" y="2057400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8036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81528" y="1810512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NODE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81528" y="2176272"/>
            <a:ext cx="1243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step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26280" y="2057400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84648" y="1810512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84648" y="2176272"/>
            <a:ext cx="1243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29400" y="2057400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8660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87768" y="1810512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NODE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7768" y="2176272"/>
            <a:ext cx="1243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action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732520" y="2057400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89720" y="164592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90888" y="1810512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90888" y="2176272"/>
            <a:ext cx="1243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05840" y="3154680"/>
            <a:ext cx="10149840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" y="315468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07008" y="3319272"/>
            <a:ext cx="9747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State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3685032"/>
            <a:ext cx="974750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state object moves through the graph: messages, risk level, selected tool, API result, location data, and final output.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" y="4572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7008" y="4736592"/>
            <a:ext cx="4443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5102352"/>
            <a:ext cx="44439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create_react_agent(llm, tools=[...])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572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10528" y="4736592"/>
            <a:ext cx="4443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10528" y="5102352"/>
            <a:ext cx="44439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repeatable, debuggable and testable agent workflow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20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+ TOOL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Calling Concept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 means the model does not directly perform every task. It selects a named function, sends structured arguments, and receives a structured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8328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Type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160520" y="2148840"/>
            <a:ext cx="726948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960" y="2240280"/>
            <a:ext cx="7086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in the Project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77240" y="2496312"/>
            <a:ext cx="33832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2569464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response tool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160520" y="2496312"/>
            <a:ext cx="72694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33672" y="2569464"/>
            <a:ext cx="7123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MedGemma generates health-focused supportive response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383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3008376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escalation tool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160520" y="2935224"/>
            <a:ext cx="7269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33672" y="3008376"/>
            <a:ext cx="7123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Twilio call workflow when high-risk keywords appear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77240" y="3374136"/>
            <a:ext cx="33832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344728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tool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160520" y="3374136"/>
            <a:ext cx="72694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33672" y="3447288"/>
            <a:ext cx="7123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OpenStreetMap, Nominatim and Overpass search nearby clinics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77240" y="3813048"/>
            <a:ext cx="33832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" y="3886200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tool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160520" y="3813048"/>
            <a:ext cx="7269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33672" y="3886200"/>
            <a:ext cx="7123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SOAP note generator with ICD-10 style structure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77240" y="4251960"/>
            <a:ext cx="33832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0392" y="432511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filter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160520" y="4251960"/>
            <a:ext cx="7269480" cy="438912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33672" y="4325112"/>
            <a:ext cx="7123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unrelated or unsafe non-health requests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1188720" y="5074920"/>
            <a:ext cx="9784080" cy="868680"/>
          </a:xfrm>
          <a:prstGeom prst="roundRect">
            <a:avLst>
              <a:gd name="adj" fmla="val 8571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89888" y="5239512"/>
            <a:ext cx="9381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89888" y="5605272"/>
            <a:ext cx="93817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becomes useful because the LLM is connected to real application functions</a:t>
            </a: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LangGraph vs Alternatives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3774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880360" y="1188720"/>
            <a:ext cx="21488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71800" y="128016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21488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28016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AutoGen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178040" y="1188720"/>
            <a:ext cx="21488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69480" y="128016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CrewAI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9326880" y="1188720"/>
            <a:ext cx="23774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0" y="12801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Chain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153619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160934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management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2880360" y="153619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53512" y="16093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5029200" y="153619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2352" y="16093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178040" y="153619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51192" y="16093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9326880" y="153619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00032" y="160934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502920" y="194767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202082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Cyclic workflows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2880360" y="194767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53512" y="202082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029200" y="194767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02352" y="202082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7178040" y="194767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51192" y="202082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9326880" y="194767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00032" y="202082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02920" y="235915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" y="243230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880360" y="235915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53512" y="243230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pattern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5029200" y="235915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02352" y="243230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7178040" y="235915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51192" y="243230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9326880" y="235915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00032" y="243230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02920" y="277063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" y="284378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/ tracing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2880360" y="277063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53512" y="284378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5029200" y="277063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02352" y="284378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7178040" y="277063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51192" y="284378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9326880" y="277063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400032" y="284378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502920" y="318211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76072" y="325526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control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2880360" y="318211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953512" y="325526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5029200" y="318211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02352" y="325526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7178040" y="3182112"/>
            <a:ext cx="21488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251192" y="325526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9326880" y="3182112"/>
            <a:ext cx="2377440" cy="41148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400032" y="325526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502920" y="359359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76072" y="366674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2880360" y="359359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953512" y="36667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agents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5029200" y="359359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102352" y="36667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research</a:t>
            </a:r>
            <a:endParaRPr lang="en-US" sz="810" dirty="0"/>
          </a:p>
        </p:txBody>
      </p:sp>
      <p:sp>
        <p:nvSpPr>
          <p:cNvPr id="70" name="Shape 68"/>
          <p:cNvSpPr/>
          <p:nvPr/>
        </p:nvSpPr>
        <p:spPr>
          <a:xfrm>
            <a:off x="7178040" y="3593592"/>
            <a:ext cx="21488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251192" y="36667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tasks</a:t>
            </a:r>
            <a:endParaRPr lang="en-US" sz="810" dirty="0"/>
          </a:p>
        </p:txBody>
      </p:sp>
      <p:sp>
        <p:nvSpPr>
          <p:cNvPr id="72" name="Shape 70"/>
          <p:cNvSpPr/>
          <p:nvPr/>
        </p:nvSpPr>
        <p:spPr>
          <a:xfrm>
            <a:off x="9326880" y="3593592"/>
            <a:ext cx="2377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400032" y="3666744"/>
            <a:ext cx="2231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flows</a:t>
            </a:r>
            <a:endParaRPr lang="en-US" sz="810" dirty="0"/>
          </a:p>
        </p:txBody>
      </p:sp>
      <p:sp>
        <p:nvSpPr>
          <p:cNvPr id="75" name="Text 72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20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RELEVANCE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LangGraph Remains Relevant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4904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workflows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856232"/>
            <a:ext cx="45811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need branching, loops and conditional steps.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14904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Regulated domains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1856232"/>
            <a:ext cx="45811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Healthcare-style workflows benefit from state, logging and control.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9260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30906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model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456432"/>
            <a:ext cx="45811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Ollama and local models for privacy-oriented deployments.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9260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73152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64808" y="3090672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3456432"/>
            <a:ext cx="45811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structure makes behaviour easier to explain during testing.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1560" y="4983480"/>
            <a:ext cx="10012680" cy="8839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52728" y="5148072"/>
            <a:ext cx="9610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point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0828" y="5524718"/>
            <a:ext cx="96103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is not the AI model. It is the workflow framework around the model.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20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Architecture: Agentic AI Project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0378440" cy="749808"/>
          </a:xfrm>
          <a:prstGeom prst="roundRect">
            <a:avLst>
              <a:gd name="adj" fmla="val 9231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1353312"/>
            <a:ext cx="9976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1115568" y="1719072"/>
            <a:ext cx="997610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Gradio desktop chat interface, sidebar, prompts and mood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10378440" cy="713232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73152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2221992"/>
            <a:ext cx="9976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1115568" y="2532886"/>
            <a:ext cx="9976104" cy="548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endpoints, routing logic, validation and service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79"/>
            <a:ext cx="10378440" cy="713231"/>
          </a:xfrm>
          <a:prstGeom prst="roundRect">
            <a:avLst>
              <a:gd name="adj" fmla="val 9231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73152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5568" y="3090672"/>
            <a:ext cx="9976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Layer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1115568" y="3399827"/>
            <a:ext cx="9976104" cy="45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+ LangChain tools, ReAct loop and shared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59"/>
            <a:ext cx="10378440" cy="685803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73152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5568" y="3959352"/>
            <a:ext cx="9976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Layer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1115568" y="4206240"/>
            <a:ext cx="99761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MedGemma for medical support; Llama/Ollama for orchestration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663439"/>
            <a:ext cx="10378440" cy="795529"/>
          </a:xfrm>
          <a:prstGeom prst="roundRect">
            <a:avLst>
              <a:gd name="adj" fmla="val 9231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4663440"/>
            <a:ext cx="73152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" y="4828032"/>
            <a:ext cx="9976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Services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1100328" y="5074920"/>
            <a:ext cx="99913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Twilio, OpenStreetMap, Nominatim, Overpass and location APIs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20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Stack: What Each Tool Does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3990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LangGraph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graph, state, routing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493008" y="123444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93008" y="123444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94176" y="13990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694176" y="176479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 layer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345936" y="123444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45936" y="123444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47104" y="13990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Gradio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547104" y="176479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chat interface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198864" y="123444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98864" y="123444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00032" y="13990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MedGemma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400032" y="176479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health-focused generation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" y="29535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Ollama / Llama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41248" y="331927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orchestration model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493008" y="278892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93008" y="278892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94176" y="29535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Twilio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3694176" y="331927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call/SMS integration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345936" y="278892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45936" y="278892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47104" y="29535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OpenStreetMap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47104" y="331927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 and pharmacy search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198864" y="278892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98864" y="2788920"/>
            <a:ext cx="73152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00032" y="29535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ICD-10 / SOAP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9400032" y="3319272"/>
            <a:ext cx="2084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clinical-style notes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77240" y="484632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20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Models in the Project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73152" cy="1965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399032"/>
            <a:ext cx="4764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MedGemma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764792"/>
            <a:ext cx="47640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health AI model family built for medical text and image understanding. In the project it supports health-oriented responses and structured clinical-style output.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73152" cy="1965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1399032"/>
            <a:ext cx="4764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Llama 3.2 / Ollama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808" y="1764792"/>
            <a:ext cx="47640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 runtime used for orchestration and agent behaviour. Local execution supports privacy and lower dependency on hosted APIs.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886200"/>
            <a:ext cx="10012680" cy="841248"/>
          </a:xfrm>
          <a:prstGeom prst="roundRect">
            <a:avLst>
              <a:gd name="adj" fmla="val 6522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98448" y="4050792"/>
            <a:ext cx="9610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Separation of roles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98448" y="4416552"/>
            <a:ext cx="96103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model for health response + general local model for workflow control = safer and more modular architecture.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Google MedGemma documentation; Meta Llama documentation; Ollama documentation.</a:t>
            </a:r>
            <a:endParaRPr lang="en-US" sz="580" dirty="0"/>
          </a:p>
        </p:txBody>
      </p:sp>
      <p:sp>
        <p:nvSpPr>
          <p:cNvPr id="17" name="Text 14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20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vs AI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01168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438912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128016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086600" y="1188720"/>
            <a:ext cx="44348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78040" y="1280160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85800" y="1536192"/>
            <a:ext cx="201168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1609344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function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697480" y="1536192"/>
            <a:ext cx="438912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1609344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text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086600" y="1536192"/>
            <a:ext cx="443484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59752" y="1609344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 task through steps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1984248"/>
            <a:ext cx="201168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" y="2057400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697480" y="1984248"/>
            <a:ext cx="43891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70632" y="2057400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prompt/context only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086600" y="1984248"/>
            <a:ext cx="443484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9752" y="2057400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object and history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85800" y="2432304"/>
            <a:ext cx="201168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" y="2505456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697480" y="2432304"/>
            <a:ext cx="438912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70632" y="2505456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or none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086600" y="2432304"/>
            <a:ext cx="443484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59752" y="2505456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part of workflow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5800" y="2880360"/>
            <a:ext cx="201168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" y="2953512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logic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697480" y="2880360"/>
            <a:ext cx="43891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70632" y="2953512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prompt-driven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086600" y="2880360"/>
            <a:ext cx="443484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59752" y="2953512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graph/routing-driven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85800" y="3328416"/>
            <a:ext cx="201168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8952" y="3401568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697480" y="3328416"/>
            <a:ext cx="438912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70632" y="3401568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086600" y="3328416"/>
            <a:ext cx="4434840" cy="448056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59752" y="3401568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answer, API action, document, escalation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85800" y="3776472"/>
            <a:ext cx="201168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952" y="3849624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697480" y="3776472"/>
            <a:ext cx="43891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70632" y="3849624"/>
            <a:ext cx="4242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ChatGPT-style response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7086600" y="3776472"/>
            <a:ext cx="443484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59752" y="3849624"/>
            <a:ext cx="4288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SafeSpace workflow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20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MedGemma vs Major AI Models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82880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Family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240280" y="1051560"/>
            <a:ext cx="274320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1430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Strength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983480" y="1051560"/>
            <a:ext cx="35204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143000"/>
            <a:ext cx="3337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 for This Project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503920" y="1051560"/>
            <a:ext cx="32918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1143000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Role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11480" y="1399032"/>
            <a:ext cx="18288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147218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MedGemma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240280" y="1399032"/>
            <a:ext cx="27432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13432" y="147218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health-domain text/image comprehension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983480" y="1399032"/>
            <a:ext cx="35204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56632" y="1472184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validation before clinical use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8503920" y="1399032"/>
            <a:ext cx="32918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77072" y="147218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support response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11480" y="1783080"/>
            <a:ext cx="1828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18562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GPT / ChatGPT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2240280" y="1783080"/>
            <a:ext cx="27432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13432" y="185623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reasoning, coding, tool calling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983480" y="1783080"/>
            <a:ext cx="35204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56632" y="1856232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 and broad general model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503920" y="1783080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77072" y="18562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assistant or orchestration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11480" y="2167128"/>
            <a:ext cx="18288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" y="22402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240280" y="2167128"/>
            <a:ext cx="27432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13432" y="224028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long-form reasoning and careful writing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983480" y="2167128"/>
            <a:ext cx="35204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56632" y="2240280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API; not health-specialized by default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503920" y="2167128"/>
            <a:ext cx="32918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77072" y="224028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analysis, documentation, coding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11480" y="2551176"/>
            <a:ext cx="1828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" y="26243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2240280" y="2551176"/>
            <a:ext cx="27432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13432" y="262432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and Google ecosystem integration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4983480" y="2551176"/>
            <a:ext cx="35204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56632" y="2624328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model; needs healthcare adaptation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503920" y="2551176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77072" y="2624328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assistant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11480" y="2935224"/>
            <a:ext cx="18288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" y="300837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2240280" y="2935224"/>
            <a:ext cx="274320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13432" y="30083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open/local deployment and privacy control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983480" y="2935224"/>
            <a:ext cx="35204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56632" y="3008376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models can be weaker on medical nuance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503920" y="2935224"/>
            <a:ext cx="3291840" cy="384048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577072" y="300837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workflow model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411480" y="3319272"/>
            <a:ext cx="1828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" y="339242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/ open models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2240280" y="3319272"/>
            <a:ext cx="27432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13432" y="339242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deployable and cost controlled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4983480" y="3319272"/>
            <a:ext cx="35204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56632" y="3392424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tuning may be required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8503920" y="3319272"/>
            <a:ext cx="32918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577072" y="339242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local services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822960" y="5285232"/>
            <a:ext cx="10607040" cy="877824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63168" y="5468112"/>
            <a:ext cx="1026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decision</a:t>
            </a:r>
            <a:endParaRPr lang="en-US" sz="1180" dirty="0"/>
          </a:p>
        </p:txBody>
      </p:sp>
      <p:sp>
        <p:nvSpPr>
          <p:cNvPr id="62" name="Text 60"/>
          <p:cNvSpPr/>
          <p:nvPr/>
        </p:nvSpPr>
        <p:spPr>
          <a:xfrm>
            <a:off x="963168" y="5852161"/>
            <a:ext cx="102656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MedGemma is preferred for medical content; general LLMs are better for broad tasks and coding.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Google MedGemma docs, OpenAI model docs, Anthropic Claude docs, Google Gemini docs, Meta Llama docs.</a:t>
            </a:r>
            <a:endParaRPr lang="en-US" sz="580" dirty="0"/>
          </a:p>
        </p:txBody>
      </p:sp>
      <p:sp>
        <p:nvSpPr>
          <p:cNvPr id="65" name="Text 62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20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MAPPING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Workflow: Crisis Detection + SOAP Notes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92024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411480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97480" y="12801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Example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720840" y="1188720"/>
            <a:ext cx="4800600" cy="347472"/>
          </a:xfrm>
          <a:prstGeom prst="rect">
            <a:avLst/>
          </a:prstGeom>
          <a:solidFill>
            <a:srgbClr val="111111"/>
          </a:solidFill>
          <a:ln w="25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1280160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Response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85800" y="1536192"/>
            <a:ext cx="192024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160934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2606040" y="1536192"/>
            <a:ext cx="411480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79192" y="160934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sad, anxious, stressed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720840" y="1536192"/>
            <a:ext cx="480060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93992" y="160934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 response and coping exercise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685800" y="199339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" y="206654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2606040" y="1993392"/>
            <a:ext cx="4114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79192" y="206654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hopeless, trapped, give up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6720840" y="1993392"/>
            <a:ext cx="48006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93992" y="206654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 response plus crisis resources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685800" y="2450592"/>
            <a:ext cx="192024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" y="252374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2606040" y="2450592"/>
            <a:ext cx="411480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79192" y="252374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suicide, end life, self-harm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720840" y="2450592"/>
            <a:ext cx="4800600" cy="457200"/>
          </a:xfrm>
          <a:prstGeom prst="rect">
            <a:avLst/>
          </a:prstGeom>
          <a:solidFill>
            <a:srgbClr val="FAFAFA"/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93992" y="252374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escalation workflow and hotline message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868680" y="411480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" y="4114800"/>
            <a:ext cx="73152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" y="427939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note generator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9848" y="4645152"/>
            <a:ext cx="46725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Subjective, Objective, Assessment and Plan structure for handoff-style documentation.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263640" y="41148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4114800"/>
            <a:ext cx="73152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64808" y="4279392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64808" y="4645152"/>
            <a:ext cx="45354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output is not only chat. It can create structured documents and trigger safety flows.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48640" y="6236208"/>
            <a:ext cx="10789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SafeSpace AI reference slides 17 and 19; WHO safe messaging; ICD-10 reference.</a:t>
            </a:r>
            <a:endParaRPr lang="en-US" sz="580" dirty="0"/>
          </a:p>
        </p:txBody>
      </p:sp>
      <p:sp>
        <p:nvSpPr>
          <p:cNvPr id="38" name="Text 35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20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Results, Limitations and Future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3152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399032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64792"/>
            <a:ext cx="311810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MedGemma response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agent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Gradio interface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detection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Twilio emergency call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Clinic/pharmacy finder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SOAP note output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73152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399032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1764792"/>
            <a:ext cx="311810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doctor replacement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clinical validation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risk detection can miss context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APIs can fail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compliance must be reviewed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75320" y="123444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AFAFA"/>
          </a:solidFill>
          <a:ln w="889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73152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76488" y="1399032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6488" y="1764792"/>
            <a:ext cx="28437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mode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input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login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history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path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export</a:t>
            </a:r>
            <a:endParaRPr lang="en-US" sz="102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emotion model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20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81360" cy="4343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000" dirty="0"/>
          </a:p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20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2128</Words>
  <Application>Microsoft Macintosh PowerPoint</Application>
  <PresentationFormat>Widescreen</PresentationFormat>
  <Paragraphs>400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- Concepts and Tools</dc:title>
  <dc:subject>Concepts and Tools for Application Development</dc:subject>
  <dc:creator>Jatin Mathur</dc:creator>
  <cp:lastModifiedBy>Jatin Mathur</cp:lastModifiedBy>
  <cp:revision>6</cp:revision>
  <dcterms:created xsi:type="dcterms:W3CDTF">2026-05-31T16:39:21Z</dcterms:created>
  <dcterms:modified xsi:type="dcterms:W3CDTF">2026-06-01T08:50:17Z</dcterms:modified>
</cp:coreProperties>
</file>